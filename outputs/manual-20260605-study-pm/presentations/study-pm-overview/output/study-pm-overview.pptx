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ba88229b848d5" /><Relationship Type="http://schemas.openxmlformats.org/officeDocument/2006/relationships/extended-properties" Target="/docProps/app.xml" Id="R3b2c5ab9f59d4f52" /><Relationship Type="http://schemas.openxmlformats.org/officeDocument/2006/relationships/officeDocument" Target="/ppt/presentation.xml" Id="Rc17a52f1486e4d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b27c994044ee9"/>
  </p:sldMasterIdLst>
  <p:notesMasterIdLst>
    <p:notesMasterId xmlns:r="http://schemas.openxmlformats.org/officeDocument/2006/relationships" r:id="R397865a6a24e448c"/>
  </p:notesMasterIdLst>
  <p:sldIdLst>
    <p:sldId xmlns:r="http://schemas.openxmlformats.org/officeDocument/2006/relationships" id="256" r:id="R3e97c8214d1b4fcb"/>
    <p:sldId xmlns:r="http://schemas.openxmlformats.org/officeDocument/2006/relationships" id="257" r:id="R16a05ebe516d4057"/>
    <p:sldId xmlns:r="http://schemas.openxmlformats.org/officeDocument/2006/relationships" id="258" r:id="Re39e973a3af1470d"/>
    <p:sldId xmlns:r="http://schemas.openxmlformats.org/officeDocument/2006/relationships" id="259" r:id="R2898b5a64283415f"/>
    <p:sldId xmlns:r="http://schemas.openxmlformats.org/officeDocument/2006/relationships" id="260" r:id="R2ea67a1609764763"/>
    <p:sldId xmlns:r="http://schemas.openxmlformats.org/officeDocument/2006/relationships" id="261" r:id="Rdd7f1041d19c4d87"/>
    <p:sldId xmlns:r="http://schemas.openxmlformats.org/officeDocument/2006/relationships" id="262" r:id="R9f963dcf12674b42"/>
    <p:sldId xmlns:r="http://schemas.openxmlformats.org/officeDocument/2006/relationships" id="263" r:id="Rd832110286924a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b27c994044ee9" /><Relationship Type="http://schemas.openxmlformats.org/officeDocument/2006/relationships/theme" Target="/ppt/theme/theme1.xml" Id="Rfa7e7414dfeb4cd3" /><Relationship Type="http://schemas.openxmlformats.org/officeDocument/2006/relationships/notesMaster" Target="/ppt/notesMasters/notesMaster1.xml" Id="R397865a6a24e448c" /><Relationship Type="http://schemas.openxmlformats.org/officeDocument/2006/relationships/presProps" Target="/ppt/presProps.xml" Id="R408fa5a5aafc4cb1" /><Relationship Type="http://schemas.openxmlformats.org/officeDocument/2006/relationships/viewProps" Target="/ppt/viewProps.xml" Id="Rba843d4c99a14f55" /><Relationship Type="http://schemas.openxmlformats.org/officeDocument/2006/relationships/tableStyles" Target="/ppt/tableStyles.xml" Id="R3d19c70aaa8d46f7" /><Relationship Type="http://schemas.openxmlformats.org/officeDocument/2006/relationships/slide" Target="/ppt/slides/slide1.xml" Id="R3e97c8214d1b4fcb" /><Relationship Type="http://schemas.openxmlformats.org/officeDocument/2006/relationships/slide" Target="/ppt/slides/slide2.xml" Id="R16a05ebe516d4057" /><Relationship Type="http://schemas.openxmlformats.org/officeDocument/2006/relationships/slide" Target="/ppt/slides/slide3.xml" Id="Re39e973a3af1470d" /><Relationship Type="http://schemas.openxmlformats.org/officeDocument/2006/relationships/slide" Target="/ppt/slides/slide4.xml" Id="R2898b5a64283415f" /><Relationship Type="http://schemas.openxmlformats.org/officeDocument/2006/relationships/slide" Target="/ppt/slides/slide5.xml" Id="R2ea67a1609764763" /><Relationship Type="http://schemas.openxmlformats.org/officeDocument/2006/relationships/slide" Target="/ppt/slides/slide6.xml" Id="Rdd7f1041d19c4d87" /><Relationship Type="http://schemas.openxmlformats.org/officeDocument/2006/relationships/slide" Target="/ppt/slides/slide7.xml" Id="R9f963dcf12674b42" /><Relationship Type="http://schemas.openxmlformats.org/officeDocument/2006/relationships/slide" Target="/ppt/slides/slide8.xml" Id="Rd83211028692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dcbf90426b40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04dfa3f5247bb" /><Relationship Type="http://schemas.openxmlformats.org/officeDocument/2006/relationships/notesMaster" Target="/ppt/notesMasters/notesMaster1.xml" Id="Rf192c24af74a47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7f8dcb3313450e" /><Relationship Type="http://schemas.openxmlformats.org/officeDocument/2006/relationships/notesMaster" Target="/ppt/notesMasters/notesMaster1.xml" Id="Rb62284f8ae2b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426b67b844f8c" /><Relationship Type="http://schemas.openxmlformats.org/officeDocument/2006/relationships/notesMaster" Target="/ppt/notesMasters/notesMaster1.xml" Id="R25c68de086f7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9e27690b94ede" /><Relationship Type="http://schemas.openxmlformats.org/officeDocument/2006/relationships/notesMaster" Target="/ppt/notesMasters/notesMaster1.xml" Id="Raaa5d6725d4d4c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05a669a3454722" /><Relationship Type="http://schemas.openxmlformats.org/officeDocument/2006/relationships/notesMaster" Target="/ppt/notesMasters/notesMaster1.xml" Id="Rb80e68e984584e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c26dd97444dc6" /><Relationship Type="http://schemas.openxmlformats.org/officeDocument/2006/relationships/notesMaster" Target="/ppt/notesMasters/notesMaster1.xml" Id="R9e374f0589b745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17e9dff09b471e" /><Relationship Type="http://schemas.openxmlformats.org/officeDocument/2006/relationships/notesMaster" Target="/ppt/notesMasters/notesMaster1.xml" Id="R75d5356cf93842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774bbb8a94237" /><Relationship Type="http://schemas.openxmlformats.org/officeDocument/2006/relationships/notesMaster" Target="/ppt/notesMasters/notesMaster1.xml" Id="R2d599c1a09d2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71fd947e84b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1164bf80cea4fba" /><Relationship Type="http://schemas.openxmlformats.org/officeDocument/2006/relationships/slideLayout" Target="/ppt/slideLayouts/slideLayout2.xml" Id="Rfd9bd8567e90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bd8567e90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2365548444399" /><Relationship Type="http://schemas.openxmlformats.org/officeDocument/2006/relationships/notesSlide" Target="/ppt/notesSlides/notesSlide1.xml" Id="R035b1f466866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9d74c75f54027" /><Relationship Type="http://schemas.openxmlformats.org/officeDocument/2006/relationships/notesSlide" Target="/ppt/notesSlides/notesSlide2.xml" Id="R477c5057b3b84d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6dba8fae346e6" /><Relationship Type="http://schemas.openxmlformats.org/officeDocument/2006/relationships/notesSlide" Target="/ppt/notesSlides/notesSlide3.xml" Id="Rf77ce79096d44d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255bdbf0944c4" /><Relationship Type="http://schemas.openxmlformats.org/officeDocument/2006/relationships/notesSlide" Target="/ppt/notesSlides/notesSlide4.xml" Id="R7d8b633d8030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fd9394325406d" /><Relationship Type="http://schemas.openxmlformats.org/officeDocument/2006/relationships/notesSlide" Target="/ppt/notesSlides/notesSlide5.xml" Id="Rceb65bae86684c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18aa4b1dc4078" /><Relationship Type="http://schemas.openxmlformats.org/officeDocument/2006/relationships/notesSlide" Target="/ppt/notesSlides/notesSlide6.xml" Id="R92f377a82a5c4d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dd14a26ed477c" /><Relationship Type="http://schemas.openxmlformats.org/officeDocument/2006/relationships/notesSlide" Target="/ppt/notesSlides/notesSlide7.xml" Id="Ra5a17be39e8f40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9f1e694d644db" /><Relationship Type="http://schemas.openxmlformats.org/officeDocument/2006/relationships/notesSlide" Target="/ppt/notesSlides/notesSlide8.xml" Id="R9bc34b3ec5794b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CCF45-4586-4985-81EA-D8FD6112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A7FA3-3DCF-43AA-A1D3-6F0892F6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9DAC-DD33-4756-AC48-80C1E23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A53C4-D3B9-4274-98EF-456DCE5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D9E06-DE91-4246-A472-414E7A4E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Study PM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D2F47-77CF-4567-8571-D1760CDF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47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PC Web Mock Overview</a:t>
            </a:r>
          </a:p>
        </p:txBody>
      </p:sp>
      <p:sp>
        <p:nvSpPr>
          <p:cNvPr id="7" name="kicker-overview-marker">
            <a:extLst xmlns:a="http://schemas.openxmlformats.org/drawingml/2006/main">
              <a:ext uri="{FF2B5EF4-FFF2-40B4-BE49-F238E27FC236}">
                <a16:creationId xmlns:a16="http://schemas.microsoft.com/office/drawing/2014/main" id="{4A38230F-1E3E-47B5-A713-36392E79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overview-label">
            <a:extLst xmlns:a="http://schemas.openxmlformats.org/drawingml/2006/main">
              <a:ext uri="{FF2B5EF4-FFF2-40B4-BE49-F238E27FC236}">
                <a16:creationId xmlns:a16="http://schemas.microsoft.com/office/drawing/2014/main" id="{130DFFE3-C375-4B9D-9EB7-E6FC9A42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O V E R V I E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F2395-D61C-4010-B2C9-7B9C679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52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独学を、測定できる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学習プロジェクトに変える。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1135D-10DE-454F-BCA8-5CA2469B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教材、予定、実績、遅延、疑問が分断される独学を、WBSと学習記録、EVM、質問管理でひとつの運用サイクルにまとめるPC Webアプリ。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B9FD2-EF71-4E2E-B3C3-E58F613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EC1A7-7BE8-4A6C-8067-741079D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0AEE6-A6A3-420E-B144-0E50FCB8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学習目標をプロジェクト化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8358E-EA46-4AD4-909B-2609553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00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期間・分野・状態・工数を管理単位として持つ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64BF8-2524-426C-84B4-2C0387E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068CD-8FE4-4391-B696-FACA78EC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7FF4-4C52-4D25-BEFA-927AE8B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WBSで学習を実行可能に分解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EC8A9-7446-4C4A-B780-A7683B9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53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親タスクは配下リーフから自動集計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710FB-2889-49C4-B83D-4389628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161C6-161B-4E7F-AC47-E232AAE0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E1723-089A-41AF-967F-B2F3A4E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実績と疑問を次の行動へ戻す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E32C9-0560-43FC-9EE8-FDC07BF7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05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ログ、進捗、質問、AI回答を同じ文脈に置く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E245D-A684-4CB3-853B-55E3E04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0746A-B26A-4905-A52D-CD2189FF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914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526F2-60AF-47FA-8EDA-BDFCC59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6685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C50C9-3B60-4C80-9134-1FCCE005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1A64DF-B679-4E88-90A8-6C677BE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FEFD8-211C-4C49-8EDE-004C4B02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Projects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3EDE19-A7C4-449D-8F00-7709731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AA6DC-6B00-4822-83B7-7CB4C8A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WBS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4B910-8B37-4E93-BF1A-79DA804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6FB63-D3CD-4F37-A390-6C74DF4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Logs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A1C7E-FE8F-4288-B359-229C9AA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A4DB4-6A5F-4624-9D77-EF02C16A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Questions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D2561-200C-42FE-BDAA-96364463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495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FA0296-CE31-4116-8DFC-005529FC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5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AI 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8FC4A-AAFD-4CC6-AB43-CE25E8A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00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4637F0-8F45-4F51-8862-3ABC128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71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基準日 2026-06-05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2DBAD6-BA3D-4735-9B8B-7DC3206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470BA5-0C0D-4936-9A23-BAF963E8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Java Silver 合格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01A91B-DEA3-4868-9C5D-F8F7A0A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8D269-E781-42CA-8EBE-D0A3FB5D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485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E77834-4FA1-42F5-A9B7-7A39BE3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19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34% progress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EC9504-D70C-40F8-AF92-0F3D04A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F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D197A1-8D79-4229-8335-927B74E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671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rPr>
              <a:t>計画外タスクを警告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C9DF3-E7D6-4DB4-8E49-9FD6B09C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678D9E-08B3-4D90-B752-929488A9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67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A76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4A76C"/>
                </a:solidFill>
                <a:latin typeface="Hiragino Sans"/>
                <a:ea typeface="Hiragino Sans"/>
                <a:cs typeface="Hiragino Sans"/>
              </a:rPr>
              <a:t>質問とAI回答を保存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BC9436-AE80-4EFA-8506-9B99B00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091532-6EE7-4B5E-B517-B7B56B2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requirements.md, ui-mock screen plan, React mock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7027DA-32CE-45A0-95AA-3CFA4192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768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8C38F-CAA9-4153-BAFF-2268E319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user problem-marker">
            <a:extLst xmlns:a="http://schemas.openxmlformats.org/drawingml/2006/main">
              <a:ext uri="{FF2B5EF4-FFF2-40B4-BE49-F238E27FC236}">
                <a16:creationId xmlns:a16="http://schemas.microsoft.com/office/drawing/2014/main" id="{77989FDF-5682-4D84-8D43-8AF08ED8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user problem-label">
            <a:extLst xmlns:a="http://schemas.openxmlformats.org/drawingml/2006/main">
              <a:ext uri="{FF2B5EF4-FFF2-40B4-BE49-F238E27FC236}">
                <a16:creationId xmlns:a16="http://schemas.microsoft.com/office/drawing/2014/main" id="{B116FE4C-7E75-4F0E-9916-1A68CF4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U S E R   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1BC50-0BAF-4B81-B7C9-B091D61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課題は「やる気」ではなく、</a:t>
            </a:r>
          </a:p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計画・実績・遅延・疑問の分断。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85F0C-DE1E-4A98-A4E1-917F0DCA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04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独学では教材や目標を決めても、学習範囲の分解、予定と実績の比較、遅延の把握、疑問点の管理が別々になりやすい。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B96FA-C902-483E-9D53-674FE56C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CFB5F-8119-4130-9793-286AEDB1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教材・目標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78973-AD77-479A-964E-4D172B9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何をどこまで学ぶかはあるが、粒度が大きい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6F330-C876-44D7-88CE-DAAA53B3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72F2-169D-4AA2-85DC-29173928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予定・期限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908DE-0EBA-42D6-BB33-E2A1B66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432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日付は決めても、タスク別の予定工数が弱い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7E061-1FB3-43B3-9B01-6C8A2F1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54FED-83B3-4255-85C9-CB805DE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実績・進捗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6E1E9-1691-4509-A7D2-4DD4237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学習時間と進捗率が後から突き合わせにくい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C5BD3-6B94-4B5D-865C-B2D6F7F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FC1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588C4-71E3-460C-9204-3E502AC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疑問・回答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AD212-1A90-434A-8EC0-6152A2A0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調べた内容がタスクや履歴から切り離される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3F648-44B7-443C-A746-B655B0E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432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37CDC-6314-4527-B2CF-2FE09761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AAFE4-E365-4E41-974A-55A6A32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051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CFD2D-1DFB-444D-9204-D4F958F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6932C-B1E7-4266-9101-ABAC5BD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432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44C84-60A2-4F62-A878-09420D7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76E07-92C1-4F53-86D3-3AE1859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870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7021B-8C40-4357-81F5-80896C1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必要なのは、学習行動をプロジェクト管理の観点で束ねる共通面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16AD6-794B-4541-AD07-5DF11B02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WBS、予定工数、実績工数、進捗率、EVM、質問管理を同じ学習プロジェクトに接続する。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1F4F9-8F4A-46EC-8ACD-03B3EAA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C3370-548C-479B-9A99-FA761BC4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 background and app objectives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FC2D7-C6F3-49DF-8EC2-7551819B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6602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96A6E-B679-43B0-8BAF-195ACFF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duct system-marker">
            <a:extLst xmlns:a="http://schemas.openxmlformats.org/drawingml/2006/main">
              <a:ext uri="{FF2B5EF4-FFF2-40B4-BE49-F238E27FC236}">
                <a16:creationId xmlns:a16="http://schemas.microsoft.com/office/drawing/2014/main" id="{37CB1443-5BB9-4E52-8948-9041C31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duct system-label">
            <a:extLst xmlns:a="http://schemas.openxmlformats.org/drawingml/2006/main">
              <a:ext uri="{FF2B5EF4-FFF2-40B4-BE49-F238E27FC236}">
                <a16:creationId xmlns:a16="http://schemas.microsoft.com/office/drawing/2014/main" id="{4385156F-D9B3-4A38-846B-1B99B6C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P R O D U C T   S Y S T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133F9-DD9C-4992-99D2-3E71C1C1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ダッシュボードが、すべての学習シグナルを</a:t>
            </a:r>
          </a:p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プロジェクトへ戻す。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E701D-DEAE-4EAC-BB21-E6828A42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PC Webモックは15画面を切り替え、計画・実績・質問・AI計画を同じアプリシェルで検証する。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225DA-2614-47C0-B0CE-7AED5FD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6C145-2ACE-45FC-80C1-C80402CB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719BB-8AF7-4D39-AB77-19DB753E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004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今日やること / 進行中 / 遅延 / 直近ログ / 未解決質問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5634C-C5F1-4A3A-818D-6048B60D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89500-9C25-4359-9540-6CE8022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学習プロジェクト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7C41F-EF9E-4DDA-9CC9-A74891B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名称・分野・期間・状態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DD3F0-2256-4A76-9453-0EAF205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1B3DB-62C7-404B-AF64-4472C675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FB3F2-A756-4929-BB11-B1E1F08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38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最大5階層 / リーフ入力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DBD7C-EFF4-4EB2-908C-926C92D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45477-ECA7-481B-A6B9-E52312D6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625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588A8-1C29-4F79-ACA1-616A276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292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0.25h単位 / メモ / 再集計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1872D-1506-428C-B0D3-1DF3079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9A630-B7AF-4651-A640-C64FB897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EVM・バーンダウン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51F0D-93A0-4008-8EB7-E8217E9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BAC / PV / EV / AC / SPI / CPI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ED41E-F2CE-4B62-87F8-CE08239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FC1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D7560-6288-41B8-8E27-13B0EF9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質問・回答メモ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20D21-EB91-4C1C-9A75-14113487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未解決 / 調査中 / 解決済み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69E84-249C-4A9B-B1AA-8FFA6081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431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73528-76A4-4C97-BB6C-F67FC78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AI学習計画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87928-1462-4FAE-A1FF-EF21C5A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目次OCR / WBS案 / 保存前確認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D9B6-339C-40AD-8706-2971FF8C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71763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4909F-2DFA-464A-A7CE-BCBE724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3EC09-3B09-4B5A-B9BA-08D95D7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752850"/>
            <a:ext cx="285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8C93F5-BE2C-4359-BD8B-DD0B11B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78C38-9FBD-46CD-8C48-CF6BF0C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41719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43078-59CF-4A0A-94B1-538F3AF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B5AFD-4CAF-42E0-B3CA-2A81D486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963" y="3752850"/>
            <a:ext cx="285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DB27C-FD09-4AA3-8856-897A29B6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C6A01-6918-47A5-AD9F-A4EEC8F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71763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1E8A3-7AE1-455C-9265-31B2293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1438B-FFF2-4A97-888A-7F0FE39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2819400"/>
            <a:ext cx="285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0C5B2-B57B-44DE-A97A-934676E7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B0F514-11A8-46D5-92EF-076AB69E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3A19F-40B8-4200-99B0-7CB44D60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System rule: リーフタスクの予定・実績・進捗が、親タスクとプロジェクトの集計値を作る。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74BA23-4865-4DF3-861A-C83444B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B4414E-AE97-467E-837E-ECDE2D40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App.tsx, requirements.md scope, calculations.ts aggregation rules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89CBA-CA16-4B7D-A100-CE586B0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25589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8DBF7-3A71-4F2D-A186-8AB70A8B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re loop-marker">
            <a:extLst xmlns:a="http://schemas.openxmlformats.org/drawingml/2006/main">
              <a:ext uri="{FF2B5EF4-FFF2-40B4-BE49-F238E27FC236}">
                <a16:creationId xmlns:a16="http://schemas.microsoft.com/office/drawing/2014/main" id="{F5DF427F-C398-4CD2-8E1F-ABEB05B7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re loop-label">
            <a:extLst xmlns:a="http://schemas.openxmlformats.org/drawingml/2006/main">
              <a:ext uri="{FF2B5EF4-FFF2-40B4-BE49-F238E27FC236}">
                <a16:creationId xmlns:a16="http://schemas.microsoft.com/office/drawing/2014/main" id="{A6E01D7A-3519-4D82-923E-A56BDA12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C O R E   L O O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19D2D-32F7-4AAC-B77C-1FBF19A9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学習者は、目標から証拠までを1つのループで回せる。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BBD00-169E-4DFE-9953-E316F827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最終MVPの基本サイクルは、学習プロジェクト作成からAI計画、WBS、学習記録、進捗確認、質問管理までをつなぐ。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B137E-A4E9-4709-89B3-3A350341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E6B4-DB85-4CE7-AC88-BB6EBCD9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496B8-C975-43FC-9E7B-04BAF26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目標を作る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9B59-846A-4C45-A560-FC03DC70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学習プロジェクト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Java Silver / SQL / 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2C7CF-04C7-44DC-B39E-965AC88F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81388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79588-B0E6-4122-99A0-9C77770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E4597-C627-4991-BC5A-76CA96A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D57D3-F747-41DD-A1C0-6FDD7DFE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60D5E-CB18-4A88-9C6A-E08DD011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計画案を作る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DF208-71FA-46EE-90B9-921EBEEE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教材目次 + 期限 +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学習可能時間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41214-9262-4648-A2E4-F8FB1772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81388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5EC95-DE3B-4C5E-A640-FEAAB71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6F6B2-EE57-4571-AFC9-E4BA6D61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9AB5A-C5E4-4544-8795-2AA69A76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33085-0FBB-4A55-8627-166CA51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WBSに分解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3F857-4EF9-42D9-9132-64B240E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親タスク / リーフ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予定日・予定工数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6EA7F-8169-4632-BBB0-3DB9C68C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81388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F6D84-81D1-4DCB-9F55-D9B8089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D5869-C987-4E44-8258-532F0E1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24011-54C5-4FC7-B021-9EA30BC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1A244-8105-493D-B065-E8F8ED81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実績を記録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585E6-6FD1-4841-8EE9-FF505C1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学習日 / 0.25h単位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メモを残す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7265A-8433-467D-92EC-B559045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1388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ABAA5-BE6B-40DB-ADEE-E01EDA9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410B4-E898-474D-B173-8D252285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21E8E-3805-4CAE-9588-6FA98B39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F89AA-0A06-4F1C-AFAB-CDE6082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進捗を見る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45AB6-C53A-4428-A907-0B26DA1D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予定差 / 遅延 / EVM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バーンダウン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0BFE4-2AF8-45B9-9C23-32481D35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81388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836923-9976-4BF7-BD7A-9456657C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EA42F-90EF-414A-901B-5001D87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05100"/>
            <a:ext cx="146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F83038-EDC1-426B-A8DB-94C61B7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2563EB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F6693C-8C38-411C-842A-F427B7A9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疑問を戻す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022663-7247-48BE-8F34-B24712A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0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質問 / 回答メモ</a:t>
            </a:r>
          </a:p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AI回答履歴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44EE0F-AAB0-49BD-9319-C68D4E38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53000"/>
            <a:ext cx="763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86312D-7D63-4933-8E35-FFDD0A4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701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重要: AI生成結果は直接保存せず、ユーザー確認後にプロジェクトとWBSへ保存する。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69B63C-BB50-41B1-98A7-5396A2E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1815A6-D61A-47DE-AB10-8E4319B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 final MVP basic cycle and AI plan requirements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B616B6-9714-4FAB-8BEC-A0CE00A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29976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88E98-CA48-4352-B005-30E3383F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vp shape-marker">
            <a:extLst xmlns:a="http://schemas.openxmlformats.org/drawingml/2006/main">
              <a:ext uri="{FF2B5EF4-FFF2-40B4-BE49-F238E27FC236}">
                <a16:creationId xmlns:a16="http://schemas.microsoft.com/office/drawing/2014/main" id="{1DEEC6A3-DEDD-41ED-A836-66B3A227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vp shape-label">
            <a:extLst xmlns:a="http://schemas.openxmlformats.org/drawingml/2006/main">
              <a:ext uri="{FF2B5EF4-FFF2-40B4-BE49-F238E27FC236}">
                <a16:creationId xmlns:a16="http://schemas.microsoft.com/office/drawing/2014/main" id="{A6C6E60E-F034-4852-A18C-4D7CFA7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M V P   S H A P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58B44-2047-4BCB-B64D-B9D4A3B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71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MVPは、計画管理を先に成立させてから</a:t>
            </a:r>
          </a:p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可視化・知識化・AI支援を足す。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B255B-ADCE-4953-8FD6-1E34FAFF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画面モックは最終MVPの主要15画面を先に検証し、段階リリースの境界を確認するためのもの。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F7F55-1F57-48A8-A9AF-B92D5BE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89A8C-11E7-4455-9531-DDF8277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78A5E-CE1F-40A1-A491-2507B5E8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5280D-71EE-431F-8B22-1D73B320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62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学習計画と実績を管理できる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CE56F-EE08-48DA-B565-023E04F7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4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認証 / プロジェクト / WBS / 学習記録 / 基本ダッシュボード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B088B-B0C3-43BB-BAD9-7B0DD4E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BEE95-FB45-4206-86FF-BC37834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60B83-6746-435D-A4E7-095DEAE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718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0E33F-57A1-4CB7-8A69-81C17F5F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計画との差を可視化できる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895D6-C656-44AB-B0DF-D8F8AA39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29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進捗履歴 / 計画履歴 / EVM / バーンダウン / 遅延表示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F0AF3-1759-459E-9D72-76176679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83CD6-ABB1-4DEE-8214-88A9C85A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49CAC-AD5B-4004-B7E0-CBC92C2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529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13CE7-E5CD-415C-AFF9-D8B801D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学習中の疑問を蓄積できる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BB980-9A4F-4B6F-B993-DF596D6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1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質問管理 / 回答メモ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17764-8E5A-434E-8AA6-1EF36BFC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3F13C-148F-4CEC-99FB-0038DAD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3C037-A672-4090-89C5-63A6F78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4AE73-ED47-4EF5-8DDA-70AE7678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AIを学習支援へ利用できる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CF377-C592-4D81-9B5A-1EB0BDEE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AI回答 / 回答履歴 / 教材OCR / AI学習計画生成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A838A-8E99-42F1-BB81-5D5D908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18669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AE7AA-7F5F-490B-A770-CB694243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14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D9BD9-E0E8-4D53-84D5-ABECF0C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PC Web screens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E7E25-CDE1-4758-B7D5-1F191B28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優先順はダッシュボード、プロジェクト一覧、詳細、WBS編集、学習記録登録から。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26602-B81B-4C7B-8737-E4623139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61212-C8D5-4502-9529-48B120E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 phased release table, ui-mock screen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320D6-E30F-463C-8922-036FC24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69756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591B9-9963-4035-A369-EA71C28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ject control-marker">
            <a:extLst xmlns:a="http://schemas.openxmlformats.org/drawingml/2006/main">
              <a:ext uri="{FF2B5EF4-FFF2-40B4-BE49-F238E27FC236}">
                <a16:creationId xmlns:a16="http://schemas.microsoft.com/office/drawing/2014/main" id="{DD74AC5B-383E-407E-88CF-35527D50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ject control-label">
            <a:extLst xmlns:a="http://schemas.openxmlformats.org/drawingml/2006/main">
              <a:ext uri="{FF2B5EF4-FFF2-40B4-BE49-F238E27FC236}">
                <a16:creationId xmlns:a16="http://schemas.microsoft.com/office/drawing/2014/main" id="{0521979F-C4E7-436A-96A3-1984679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P R O J E C T   C O N T R O 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7E3AF-0EA0-4133-B9E7-C68FE5FE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モックは、遅延を早く見るための管理信号をすでに持っている。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B1307-9CA7-480F-8AF4-FEE5E494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Java Silver 合格サンプルでは、リーフタスクの予定工数・実績工数・進捗率からプロジェクト状態を集計する。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CBFC0-A7B3-4582-9C5D-8BDE628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305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30D5F-AACB-4F1A-A45E-A3B21B4C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Java Silver 合格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B1360-955B-4189-848F-A86AA24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基準日 2026-06-05 / Java基礎、クラス設計、例外、コレクションを確認する学習プロジェクト。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ADF95-0751-45B2-A97F-69EC543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61C7C-FD37-4FFA-A62E-1A228DF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rPr>
              <a:t>予定工数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62C56-D22A-4CF1-ABA1-860E6BF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3860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5.25h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F0EEB-EB19-4637-8B20-FA081D6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00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rPr>
              <a:t>実績工数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3D4F4-6718-4B4B-9FA7-6F408DAA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A76C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4A76C"/>
                </a:solidFill>
                <a:latin typeface="Hiragino Sans"/>
                <a:ea typeface="Hiragino Sans"/>
                <a:cs typeface="Hiragino Sans"/>
              </a:rPr>
              <a:t>34%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406C0-E431-40E9-AC42-E0D3C225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rPr>
              <a:t>進捗率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63918-F35E-4675-B520-89DBDE66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AFA9A-73B1-4D09-9E9A-4369F0F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2CACB-FCEE-40E8-9EA2-BAABFF0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94A3B8"/>
                </a:solidFill>
                <a:latin typeface="Hiragino Sans"/>
                <a:ea typeface="Hiragino Sans"/>
                <a:cs typeface="Hiragino Sans"/>
              </a:rPr>
              <a:t>Weighted progress from leaf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1BB47-5152-4C83-8A1B-EBBC322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WBS leaf task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E487C-17EA-4EF1-B93C-A4863DA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第1章を読む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3ED35-E5E3-467B-A4B6-02DF5F5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479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8546F-21E7-4033-8A3E-81A802E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479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C2D2E-7581-4C12-AB4B-6CE9F09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98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100%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B8A06-E25A-45A8-A346-DA1AD343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4h plan / 4h actual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0512B-D4A4-489D-AFAD-8B6BA11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F4380-F50F-4F4E-BA21-24B6D2D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章末問題を解く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84027-EB53-4598-82FE-80725F7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6D94C-B166-4192-8C0E-16D5281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200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7D0AC-CDC1-42C4-8AA0-53ECFE8B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051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60%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2EB51-72F2-4AD2-9233-249890AA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3h plan / 1.25h actual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8ABE3-7845-404D-B99C-D15C104E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E254B-1289-4CDB-A51D-376604C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クラス定義を読む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1AA0B-70B6-4D57-A460-D8E441D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385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5A748-7F75-4B5A-A286-3906A96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385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6D756-5C58-467D-B504-31BEDFF7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0F3A94-545A-4262-8886-D6F9DAC5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5h plan / 0h actual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68364A-7CE7-4ECC-9F33-6B959856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625BAB-FEFE-43C7-BAE0-F103FF60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継承の問題を解く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A9CFA7-6D4E-4C08-9BE7-90498E9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338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70AF91-47C0-4E0E-BE80-F861EF3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33875"/>
            <a:ext cx="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C77426-A82F-480A-BC6D-600D68A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957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F46284-0913-4C38-9E0A-D1730A4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6h plan / 0h actual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74B872-8EA0-49BD-B9D9-ECB0842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60FA5A-5530-490F-BA96-0E1F5F66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00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模擬試験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05E3C4-ED43-4DD5-9578-9141FB9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29175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B3DFF3-3B05-4481-81C3-CED2B85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29175"/>
            <a:ext cx="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86F930-73BC-40C1-B3CA-0703A31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91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CC1A96-7F21-4215-8918-942A3E9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63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2h plan / 0h actual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152C66-4C99-46B5-86B8-8495CD7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A14435-880E-4324-98E9-834198A0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91150"/>
            <a:ext cx="483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F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5D4632-6962-4728-8BB2-9FA2A77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rPr>
              <a:t>Warning modeled: プロジェクト期間外タスクを検出できる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12A85A-5BDE-4F4A-B335-0D2FDC2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64B635-3573-46A1-B918-A2FF6E6B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mockData.ts sample state and calculations.ts aggregation logic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324AB5-1399-46EB-B9BF-DAA66A2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91412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E70AA-077E-4EEB-82D0-D3E494E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latform direction-marker">
            <a:extLst xmlns:a="http://schemas.openxmlformats.org/drawingml/2006/main">
              <a:ext uri="{FF2B5EF4-FFF2-40B4-BE49-F238E27FC236}">
                <a16:creationId xmlns:a16="http://schemas.microsoft.com/office/drawing/2014/main" id="{63CCCA3E-ECD4-4349-AF6C-1C25225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latform direction-label">
            <a:extLst xmlns:a="http://schemas.openxmlformats.org/drawingml/2006/main">
              <a:ext uri="{FF2B5EF4-FFF2-40B4-BE49-F238E27FC236}">
                <a16:creationId xmlns:a16="http://schemas.microsoft.com/office/drawing/2014/main" id="{9629F683-9647-414A-B9BF-3083189F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P L A T F O R M   D I R E C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D9EB-048E-4D1E-973C-B8B5D853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PCモックは、共通APIと将来のFlutter版へ進むための検証層。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F80F6-78C3-4F0A-9C68-29A16CD1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このリポジトリはPC Web版、共通設計、将来のFlutterスマホアプリ向けAPI仕様を扱う前提。モバイルは別リポジトリ想定。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34027-4759-4B3F-B933-8B6360A2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59950-02AE-4B49-9CB3-CB2CF7A5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React PC Web Mock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15194-868E-42B7-A661-E2DA514E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885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15画面 / 固定データ / 導線確認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332D1-40D2-4ACA-ABA4-EF03F46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94CD8-2F75-401C-8A2E-50C25C1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Behavior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FB222-D97D-439E-A26F-BB31CE1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2076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業務ルール / 集計 / 入力制約 / 画面確認観点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3BE54-8F8B-4011-AC2E-04F16EB5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6B206-05CC-423E-BA23-1E52F4F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Shared Backend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ED81E-984E-4EBB-9BA9-F86056F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同一アカウント / 同一データ / PC・モバイル共通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8EA27-7275-4C8D-94C6-EB0BFEC0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4A7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C2098-E296-4E6C-A694-95EE918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908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Flutter Mobile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DE802-0E22-4494-B09B-7C37A63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57550"/>
            <a:ext cx="140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カードUI / 今日のタスク / カメラOCR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61992-11D9-4A9D-9F15-72150EF7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66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3D052-3195-42D9-866B-D6852EB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A4E59-DA14-4F68-90E6-A0F50399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6613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B90BF-F070-41E7-9F0A-C2EBA91A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FB31D-9AAA-438C-95BE-FAE6A8E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661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9ECD3-B055-4672-9FDF-EDB72FB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7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D5ED5-D091-4469-956B-39EEC71C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2AD42-8B32-4A54-8D1E-864401A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19650"/>
            <a:ext cx="489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AI/OCRは後段で接続: 送信情報選択、同意、生成結果確認を先に画面で固める。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B758A-8B9A-4670-BA0C-D106A03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FF7CE-DEEC-43B0-8B1F-382E6F6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 utilization assumptions, ui-mock mobile relationship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DD0A4-50BC-4703-87F0-F8BE7B14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17140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48895-8AC0-4062-9143-40148435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ecisions-marker">
            <a:extLst xmlns:a="http://schemas.openxmlformats.org/drawingml/2006/main">
              <a:ext uri="{FF2B5EF4-FFF2-40B4-BE49-F238E27FC236}">
                <a16:creationId xmlns:a16="http://schemas.microsoft.com/office/drawing/2014/main" id="{7BF0DDCC-1CB8-4B63-B780-1494BE3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cisions-label">
            <a:extLst xmlns:a="http://schemas.openxmlformats.org/drawingml/2006/main">
              <a:ext uri="{FF2B5EF4-FFF2-40B4-BE49-F238E27FC236}">
                <a16:creationId xmlns:a16="http://schemas.microsoft.com/office/drawing/2014/main" id="{22B368E7-9A5E-45BB-944C-4761FAD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1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D E C I S I O N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9AB4-9131-4B94-89A3-3AE6A87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次のマイルストーンは、バックエンド実装前に振る舞いの契約を固定すること。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7E5BB-185A-45E2-8351-A1D77BD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画面モックで見えている入力制約、集計ルール、AI送信範囲、MVP境界を仕様へ落とし、DB/API設計へ進める。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BCF7F-EB09-4EEA-A0C8-1D6E852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F07F7-9D2D-47B4-BE3C-3B8BD355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4C9DC-5CE5-4E64-B46F-E63B9ADB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集計ルール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68EA-9AD9-44E0-8C1D-F01E6FC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親タスク、プロジェクト、EVM、バーンダウンをどの履歴から算出するか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2223D-8336-444C-B546-2E31931E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86EEF-2FBE-4601-93DD-1EF282EC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BF11D-2C17-4E12-9447-DA69DFD8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AI送信契約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A0582-22E0-474B-8286-7AA1DEF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質問回答と学習計画生成で、どの情報を外部送信可能にするか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0BF21-7DE1-4973-908C-011386A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D9C44-21A3-4FE3-9EA6-FB0F336D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08A2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DCA25-4139-4435-9F7E-065394B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MVP境界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5C4B3-D28B-42F9-B964-25C4086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AB4C4"/>
                </a:solidFill>
                <a:latin typeface="Hiragino Sans"/>
                <a:ea typeface="Hiragino Sans"/>
                <a:cs typeface="Hiragino Sans"/>
              </a:rPr>
              <a:t>段階リリースをどこで切り、受入確認をどの画面で行うか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92F18-8CFD-4881-955F-674F9CA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00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8088D-FB30-4DDB-BC71-ECFDBBB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19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Next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6F973-D6F5-4E2D-A323-931CE40B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06CEB-B6CE-4257-8B69-1E0C6EB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242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DB設計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A0A2C-27CB-4D55-929F-D66F609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FBF75-C5CC-4AC6-8268-4DEE9B8C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242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API設計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1B19B-B753-4C73-B409-0D50E96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44961-F5E7-4CE7-AD70-177EFB2C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243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業務ロジック設計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AD3A9-71E4-4DC7-823E-7A9CA01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9C7AF-CC8E-46B7-87F4-5FAD066E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2437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受入観点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0D576-D28D-4ECB-8EB7-A44B2083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771F1-7DCB-4166-85EA-DA965DA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585" b="0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Source: requirements.md document purpose and current UI mock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30B82-22E6-42E1-80AB-641150C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87386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7304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2026-06-05T10:13:32.1510000Z</dcterms:created>
  <dcterms:modified xsi:type="dcterms:W3CDTF">2026-06-05T10:13:32.1510000Z</dcterms:modified>
</coreProperties>
</file>